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F5B4-F641-199A-EA6D-1A3746932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E054E-B031-191C-B169-C25BB2B38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53D4B-868C-2126-2347-9DABE9AC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4C3E7-0E58-5D24-12D3-18DEDC3B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642C0-4869-FF44-12D0-C607F072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507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46A0-380F-A11B-6B23-87EB13CE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AB8C8-905A-47E2-9C39-C40C0B449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82FDE-8947-E5DD-EEE0-0E11FAAF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5185F-7C9C-D901-C739-55DF1D7F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944E8-5DC0-B87F-7A7A-25515548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463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CDB1-9746-E745-3C90-7D6CA75C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8E3A4-2FE0-556E-9704-55B984AE8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AF42-0959-B6A0-8717-4C3BAD0F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1B022-38EC-32DF-D50C-FBEFBE38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F85F-C97E-C6F8-0B23-59701880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90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E35C-EF31-17C5-F8DE-BB7FD1CE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B9AE6-A194-6071-8E3D-C1F9E6F2D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78609-ABBC-E7DD-9AFB-0B2B63D88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61AA8-C659-42AD-8EF0-07B78396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9DDFC-62EA-644C-06F3-5E085EA6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DD520-123F-7DCF-07CA-465C2D3A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6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AC1F-FF2C-55B8-0660-2CE7FDBC8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FB04C-9BD6-827C-FE35-DD7D66CC7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0CDD8-BA14-4011-55C8-754509BFD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E218C2-3A19-D70C-63F6-C456E7F1B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4B208-B2C1-1E27-CA3E-E9DE51C44D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5F871C-CACC-8763-41C2-5C5E6955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C3504-7C7A-46FB-28E5-F54E0BAA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35B52E-A900-851A-E796-F8C9751D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8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C0BA-A852-B9F1-F910-85346B44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09401-300D-10DE-5F30-7C2F290F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F19A2-612D-4E12-CE46-011204F5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5DE76-8E64-B228-15DC-8900DEA9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87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F935C-7065-57E8-3E68-9DDCDF6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C6206-28BB-9269-5C28-423CDA7A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BBF24-2647-7281-2CB6-30E6DEA4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85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46E0-8D7D-5F18-6999-CD3A4B90E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85DC2-9A3E-8AC6-817E-04D09AAA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2F361-C612-D681-41A3-72E3D309A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FC7F3-CF0D-4F22-7A81-ECA56648E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40F51-724B-0BBD-B391-FC77E6FF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C8224-48A2-57C0-10D9-2BA095C4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37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1AA2-030B-7213-0287-B16D732F7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1BEF88-505D-DEC3-8267-AE1589E7E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6F5FC-B4E4-763E-F67A-39B1EACD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3BF3C-3A6D-A4B8-80B6-D7D083F3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44CE3-4142-0FC7-977E-1F75BBD0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4D681-420D-1002-74C3-767E8B435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775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B449-73DE-F937-8C5D-10054CF2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6803C-54C0-9CD7-E81E-9F30CB13C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0047-E9DA-D3F2-5FB1-C41C3D94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D4240-101C-767D-72E3-DA46EA138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ECD01-2CB2-19FB-C43F-352037E7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73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E44F39-7A4E-575B-AEDD-9F47B711E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0CC0A-A507-160F-7860-35418EB51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0A765-77E6-D4E2-CFBA-CD698DA7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D3535-0A9F-42F1-CCE5-CB6B20AA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0908D-55F0-853B-ED51-9F244B5A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3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720DC4-D960-7862-65D8-0CC0D4E7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9A51E-3044-3354-5444-2AF9386DF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3D99C-6C02-1B65-32A7-E4008E316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0199-61FE-4BB3-9BA2-7894E6127BF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A3CF2-510A-7285-ED99-EB4B5C287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75470-B21C-22E4-618F-7436ACC9B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5800E-DD75-4D39-BA30-5B2E57A1E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762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think/topics/deep-learning" TargetMode="External"/><Relationship Id="rId3" Type="http://schemas.openxmlformats.org/officeDocument/2006/relationships/hyperlink" Target="https://www.ibm.com/think/topics/threat-actor" TargetMode="External"/><Relationship Id="rId7" Type="http://schemas.openxmlformats.org/officeDocument/2006/relationships/hyperlink" Target="https://www.ibm.com/think/topics/large-language-models" TargetMode="External"/><Relationship Id="rId2" Type="http://schemas.openxmlformats.org/officeDocument/2006/relationships/hyperlink" Target="https://www.ibm.com/think/topics/cyber-attac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bm.com/think/topics/neural-networks" TargetMode="External"/><Relationship Id="rId11" Type="http://schemas.openxmlformats.org/officeDocument/2006/relationships/hyperlink" Target="https://www.ibm.com/think/topics/data" TargetMode="External"/><Relationship Id="rId5" Type="http://schemas.openxmlformats.org/officeDocument/2006/relationships/hyperlink" Target="https://www.ibm.com/think/topics/machine-learning" TargetMode="External"/><Relationship Id="rId10" Type="http://schemas.openxmlformats.org/officeDocument/2006/relationships/hyperlink" Target="https://www.ibm.com/think/topics/data-integrity" TargetMode="External"/><Relationship Id="rId4" Type="http://schemas.openxmlformats.org/officeDocument/2006/relationships/hyperlink" Target="https://www.ibm.com/think/topics/artificial-intelligence" TargetMode="External"/><Relationship Id="rId9" Type="http://schemas.openxmlformats.org/officeDocument/2006/relationships/hyperlink" Target="https://www.ibm.com/topics/data-quality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think/topics/classification-machine-learnin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972A-594A-F02F-FA89-F5BF12A56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i="1" dirty="0"/>
              <a:t>Harms and Ethical Concerns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74A96-4CD4-3123-6856-39697349E6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408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8BC9-4403-4919-A2E2-6BE7593C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F077C-888C-1E9D-3544-CAC05D696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A59630-802B-F1A1-61A3-2FA9270F4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5874"/>
            <a:ext cx="12192000" cy="382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4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7432-C9F0-95D1-B08B-D65214E8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FD233-7D42-2AC6-5B96-2CBECCB44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5CEE2-82C7-63EF-4BD2-4D0748711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605"/>
            <a:ext cx="12192000" cy="408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18B4-510F-1808-F70A-CCFA779B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5B86-57DA-71F1-F7C0-10C7972E7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08DEB0-3B98-FBB8-48BE-4CE6B8873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04" y="1352260"/>
            <a:ext cx="8173591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3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5559-A261-E46A-0621-B9D230AF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F55B1-880A-252B-311C-EF5A1FCD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1EA84B-C8A0-4F93-1E15-5B0CB2651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6715"/>
            <a:ext cx="12192000" cy="622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6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3357D-516F-017E-A634-800D93E6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A7E8A-569A-0B5F-65C9-B60A1C288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3DC84F-A0E6-C2A1-2A34-F41DA15BF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294"/>
            <a:ext cx="12192000" cy="552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7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3446-9ACA-ECEF-0344-0354AB65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C94F3-252D-E186-CD32-2A07BBABF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CB5D6-7486-CB0D-582E-2A5787B10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25" y="0"/>
            <a:ext cx="10135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BFA6-01E6-A23F-AEEA-31A48217F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07E63-6EF8-FA71-7467-002046666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2725F-8E01-8C1E-AFB7-CDF248FFB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594" y="0"/>
            <a:ext cx="8340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7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B2A6-B922-FABF-1C81-720C6CC5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9D0CE-E2F8-A66F-2DBA-20C6BEC58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FF24F-BC9F-9823-9D6B-AC71AA79C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232" y="1114102"/>
            <a:ext cx="6163535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5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FFB9-996A-096C-19B0-22CC589C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E6FC-F196-D791-4738-6977AA7BD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8FDF0-D288-E145-8B4B-35532257F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54"/>
            <a:ext cx="12192000" cy="665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54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68FD-0046-78D9-2825-6F15268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96D9-EEDC-3897-45B2-9CC76D06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63924-78B1-0743-38FD-D902E3DDC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28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0042-3D4C-8E99-640F-FFDF73DAC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 poisoning?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255A1-3746-D52F-31D4-5323D67D5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Data poisoning is a type of </a:t>
            </a:r>
            <a:r>
              <a:rPr lang="en-US" dirty="0">
                <a:hlinkClick r:id="rId2"/>
              </a:rPr>
              <a:t>cyberattack</a:t>
            </a:r>
            <a:r>
              <a:rPr lang="en-US" dirty="0"/>
              <a:t> where </a:t>
            </a:r>
            <a:r>
              <a:rPr lang="en-US" dirty="0">
                <a:hlinkClick r:id="rId3"/>
              </a:rPr>
              <a:t>threat actors</a:t>
            </a:r>
            <a:r>
              <a:rPr lang="en-US" dirty="0"/>
              <a:t> manipulate or corrupt the training data used to develop </a:t>
            </a:r>
            <a:r>
              <a:rPr lang="en-US" dirty="0">
                <a:hlinkClick r:id="rId4"/>
              </a:rPr>
              <a:t>artificial intelligence</a:t>
            </a:r>
            <a:r>
              <a:rPr lang="en-US" dirty="0"/>
              <a:t> (AI) and </a:t>
            </a:r>
            <a:r>
              <a:rPr lang="en-US" dirty="0">
                <a:hlinkClick r:id="rId5"/>
              </a:rPr>
              <a:t>machine learning</a:t>
            </a:r>
            <a:r>
              <a:rPr lang="en-US" dirty="0"/>
              <a:t> (ML) models.</a:t>
            </a:r>
          </a:p>
          <a:p>
            <a:pPr algn="just"/>
            <a:r>
              <a:rPr lang="en-US" dirty="0">
                <a:hlinkClick r:id="rId6"/>
              </a:rPr>
              <a:t>Neural networks</a:t>
            </a:r>
            <a:r>
              <a:rPr lang="en-US" dirty="0"/>
              <a:t>, </a:t>
            </a:r>
            <a:r>
              <a:rPr lang="en-US" dirty="0">
                <a:hlinkClick r:id="rId7"/>
              </a:rPr>
              <a:t>large language models</a:t>
            </a:r>
            <a:r>
              <a:rPr lang="en-US" dirty="0"/>
              <a:t> (LLMs) and </a:t>
            </a:r>
            <a:r>
              <a:rPr lang="en-US" dirty="0">
                <a:hlinkClick r:id="rId8"/>
              </a:rPr>
              <a:t>deep learning</a:t>
            </a:r>
            <a:r>
              <a:rPr lang="en-US" dirty="0"/>
              <a:t> models rely heavily on the </a:t>
            </a:r>
            <a:r>
              <a:rPr lang="en-US" dirty="0">
                <a:hlinkClick r:id="rId9"/>
              </a:rPr>
              <a:t>quality</a:t>
            </a:r>
            <a:r>
              <a:rPr lang="en-US" dirty="0"/>
              <a:t> and </a:t>
            </a:r>
            <a:r>
              <a:rPr lang="en-US" dirty="0">
                <a:hlinkClick r:id="rId10"/>
              </a:rPr>
              <a:t>integrity</a:t>
            </a:r>
            <a:r>
              <a:rPr lang="en-US" dirty="0"/>
              <a:t> of training data, which ultimately determines a model’s functions. This training data can come from various sources, such as the internet, government databases and third-party data providers. By injecting incorrect or biased </a:t>
            </a:r>
            <a:r>
              <a:rPr lang="en-US" dirty="0">
                <a:hlinkClick r:id="rId11"/>
              </a:rPr>
              <a:t>data points</a:t>
            </a:r>
            <a:r>
              <a:rPr lang="en-US" dirty="0"/>
              <a:t> (poisoned data) into these training datasets, malicious actors can subtly or drastically alter a model’s behavior. 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93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A3F8-858B-0ED3-5823-FB49888F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2516C-660D-24EA-7A4F-172BB5A52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data manipulation through poisoning can lead to data </a:t>
            </a:r>
            <a:r>
              <a:rPr lang="en-US" dirty="0">
                <a:hlinkClick r:id="rId2"/>
              </a:rPr>
              <a:t>misclassification</a:t>
            </a:r>
            <a:r>
              <a:rPr lang="en-US" dirty="0"/>
              <a:t>, which reduces the efficacy and accuracy of AI and ML systems. What’s more, these attacks can introduce serious cybersecurity risks, especially in industries such as healthcare and autonomous vehicles.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521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A5D6-A6B5-68B3-B052-BBDC771C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914F8-82F8-11BF-EF2C-B05420961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281F-BE01-7F69-6C32-D0EBD4BD8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1752366"/>
            <a:ext cx="9945488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5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24D9B-6C01-41FF-1F24-13C83808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B15B4-A4A4-3798-DC65-B53A7A59E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63AE0-A260-6704-DDDE-5B28CBC1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45" y="1061707"/>
            <a:ext cx="9916909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13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4964-D6CC-23DA-E700-8389823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C680-1253-344C-CBA8-600C7B084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AA1A3-31C8-E264-2F6C-400A3DBF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2800"/>
            <a:ext cx="12192000" cy="493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82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C34E-A122-A9AC-0081-A5D28A5BA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poisoning attacks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63499-6808-FDF6-7761-99C96555D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poisoning attacks can take various forms, including label flipping, data injection, backdoor attacks and clean-label attacks</a:t>
            </a:r>
          </a:p>
          <a:p>
            <a:r>
              <a:rPr lang="en-US" dirty="0"/>
              <a:t>In label flipping attacks, malicious actors manipulate the labels in training data, swapping correct labels with incorrect ones.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382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10708</TotalTime>
  <Words>214</Words>
  <Application>Microsoft Office PowerPoint</Application>
  <PresentationFormat>Widescreen</PresentationFormat>
  <Paragraphs>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Harms and Ethical Concerns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data poisoning? </vt:lpstr>
      <vt:lpstr>PowerPoint Presentation</vt:lpstr>
      <vt:lpstr>PowerPoint Presentation</vt:lpstr>
      <vt:lpstr>PowerPoint Presentation</vt:lpstr>
      <vt:lpstr>PowerPoint Presentation</vt:lpstr>
      <vt:lpstr>Types of data poisoning attacks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Teams Guest27</dc:creator>
  <cp:lastModifiedBy>Teams Guest27</cp:lastModifiedBy>
  <cp:revision>2</cp:revision>
  <dcterms:created xsi:type="dcterms:W3CDTF">2025-10-18T20:51:06Z</dcterms:created>
  <dcterms:modified xsi:type="dcterms:W3CDTF">2025-10-26T07:19:15Z</dcterms:modified>
</cp:coreProperties>
</file>